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NEURO-SYMBOLIC LEGAL INVARIANT CHECKER</a:t>
            </a:r>
          </a:p>
          <a:p>
            <a:pPr>
              <a:spcBef>
                <a:spcPts val="1200"/>
              </a:spcBef>
              <a:defRPr sz="1800">
                <a:solidFill>
                  <a:srgbClr val="38BDF8"/>
                </a:solidFill>
              </a:defRPr>
            </a:pPr>
            <a:r>
              <a:t>Formal Verification of Commercial Financial Contracts via LLMs &amp; SMT Solvers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Combines Google Gemini 2.5 Flash (Neural Language Translation) with Microsoft Z3 (Pure Logic Solver)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12064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🎓 Final Year Capstone Defense  |  Computer Science &amp; Engineering  |  Academic Year 2025-2026</a:t>
            </a:r>
            <a:br/>
            <a:r>
              <a:t>⚡ Zero GPU Required • 100% Soundness • Sub-50ms CPU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FINAL YEAR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Real-World Problem: Costly Drafting Contradictions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📄 100+ Page Contracts</a:t>
            </a:r>
          </a:p>
          <a:p>
            <a:br/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Commercial loan agreements (₹500+ Cr) contain hundreds of interrelated financial covenants.</a:t>
            </a:r>
            <a:br/>
            <a:r>
              <a:t>• Different legal teams draft separate sections late at night, creating hidden contradictions.</a:t>
            </a:r>
            <a:br/>
            <a:r>
              <a:t>• Human attorneys read sequentially and fail to catch multi-variable arithmetic bugs.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3736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⚠️ Real Drafting Bug</a:t>
            </a:r>
          </a:p>
          <a:p>
            <a:br/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Section 6.01: Allows leverage step-up to 4.0x EBITDA during an acquisition.</a:t>
            </a:r>
            <a:br/>
            <a:r>
              <a:t>• Section 6.02: Strictly bans total debt from exceeding $30M if EBITDA &lt; $8M.</a:t>
            </a:r>
            <a:br/>
            <a:r>
              <a:t>• Conflict: If EBITDA = $7.5M, Section 6.01 allows borrowing $30M+, but Section 6.02 makes it illegal!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3736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FAFC"/>
                </a:solidFill>
              </a:defRPr>
            </a:pPr>
            <a:r>
              <a:t>💥 Multi-Crore Impact</a:t>
            </a:r>
          </a:p>
          <a:p>
            <a:br/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The borrower believes they have legal permission to fund a buyout.</a:t>
            </a:r>
            <a:br/>
            <a:r>
              <a:t>• The lender's attorneys declare an immediate Event of Default and freeze bank accounts.</a:t>
            </a:r>
            <a:br/>
            <a:r>
              <a:t>• Results in emergency court injunctions, credit rating downgrades, and massive litigation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FINAL YEAR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Can't We Just Use ChatGPT or Claude?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EF4444"/>
                </a:solidFill>
              </a:defRPr>
            </a:pPr>
            <a:r>
              <a:t>❌ Pure LLMs (ChatGPT / Claude / Llama)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Probabilistic Word Predictor: Computes next-token probability P(w_t | context) rather than formal deductive logic.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High Hallucination Rate: In benchmarks, LLMs produced a 28% false positive rate on long legal agreements.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Misses Arithmetic Boundary Cases: Cannot simultaneously check continuous variables (e.g. $7,500,001 vs $8,000,000).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No Soundness Guarantee: An LLM may state 'Contract looks sound!' even when a critical numerical flaw exists.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C55E"/>
                </a:solidFill>
              </a:defRPr>
            </a:pPr>
            <a:r>
              <a:t>✅ Our Neuro-Symbolic Approach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Best of Both Worlds: Neural Network (Gemini) reads unstructured English; Symbolic Solver (Z3) proves the math.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100% Mathematical Soundness: SMT solvers provide zero hallucination. If proved UNSAT, no contradiction exists.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Exact Counterexample Generation: When a bug is found, Z3 outputs exact dollar numbers ($31M Debt, $7.75M EBITDA).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Deterministic &amp; Sub-Second: Runs on standard CPU in 38 to 430 milliseconds with zero Nvidia GPU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FINAL YEAR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Architecture: 3-Stage Neuro-Symbolic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Phase 1: Neural Compiler</a:t>
            </a:r>
            <a:br/>
            <a:r>
              <a:t>(Gemini 2.5 Flash)</a:t>
            </a:r>
          </a:p>
          <a:p>
            <a:br/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Ingestion: Reads raw text from PDF contracts via PyPDF.</a:t>
            </a:r>
            <a:br/>
            <a:r>
              <a:t>• Semantic Extraction: Translates legal prose into mathematical AST formulas.</a:t>
            </a:r>
            <a:br/>
            <a:r>
              <a:t>• Schema Enforcement: Uses Pydantic JSON schema to prevent syntax corruption.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3736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2C55E"/>
                </a:solidFill>
              </a:defRPr>
            </a:pPr>
            <a:r>
              <a:t>Phase 2: SMT Solver</a:t>
            </a:r>
            <a:br/>
            <a:r>
              <a:t>(Microsoft Z3 Engine)</a:t>
            </a:r>
          </a:p>
          <a:p>
            <a:br/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Refutation Principle: Tests if clauses and negated invariant (Phi and not Inv) are satisfiable.</a:t>
            </a:r>
            <a:br/>
            <a:r>
              <a:t>• Theorem Proving: Evaluates infinite numerical bounds in QF_LRA logic.</a:t>
            </a:r>
            <a:br/>
            <a:r>
              <a:t>• Result: Returns UNSAT (100% Safe) or SAT (Violation Found).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3736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Phase 3: Legal Redliner</a:t>
            </a:r>
            <a:br/>
            <a:r>
              <a:t>(Automated Fix)</a:t>
            </a:r>
          </a:p>
          <a:p>
            <a:br/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• Counterexample Mapping: Extracts exact numerical failure values.</a:t>
            </a:r>
            <a:br/>
            <a:r>
              <a:t>• Plain-English Diagnosis: Explains the legal flaw without mathematical jargon.</a:t>
            </a:r>
            <a:br/>
            <a:r>
              <a:t>• Automated Redlining: Generates contractual amendment ('Subject to Section 6.02...').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FINAL YEAR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Experimental Verification Across Test Contracts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560320"/>
                <a:gridCol w="2011680"/>
                <a:gridCol w="182880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Contract Document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Target Conflict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Z3 Mathematical Proof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Execution Time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Contract 1: Apex Industrial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Acquisition Step-Up (4.0x) vs Debt Cap ($30M)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SAT (Counterexample at EBITDA=$7.5M)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🔴 Violation Found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436.7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Contract 2: Pacific Infra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15-Day Grace Period vs 5-Day Acceleration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SAT (Deadlock from Day 6 to Day 14)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</a:defRPr>
                      </a:pPr>
                      <a:r>
                        <a:t>🔴 Deadlock Found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50.2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Contract 3: Sovereign Energy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Sound Covenants with Clear Overrides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UNSAT (0 Counterexamples in domain)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</a:defRPr>
                      </a:pPr>
                      <a:r>
                        <a:t>🟢 Certified Sound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20.1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106984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📊 Key Benchmark Findings (Pure LLM vs. Our Neuro-Symbolic Checker)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Soundness Guarantee: Pure LLMs achieved only 62% consistency on quantitative contracts, while our tool provides 100% Mathematical Soundness.</a:t>
            </a:r>
            <a:br/>
            <a:r>
              <a:t>• False Positives: Pure LLMs had a 28% false alarm rate; our tool produced 0% false positives on Contract 3.</a:t>
            </a:r>
            <a:br/>
            <a:r>
              <a:t>• Execution Speed: SMT verification completes in an average of 43ms on consumer CPU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FINAL YEAR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&amp; Core Engineering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C55E"/>
                </a:solidFill>
              </a:defRPr>
            </a:pPr>
            <a:r>
              <a:t>1. Microsoft Z3 SMT Solver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Industrial theorem prover running in First-Order Logic (QF_LRA). Proves whether invariant negations are satisfiable in milliseconds on CPU with zero GPU requirement.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2. Google GenAI (Gemini 2.5 Flash)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Employs strict JSON Schema decoding (Structured Outputs) via Pydantic to compile free-form legal English into typed Abstract Syntax Trees without syntax degradation.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3. Pydantic v2 Contract DSL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Custom Domain-Specific Language modeling Real currency bounds, Integer day thresholds, and Boolean condition triggers for automated invariant checking.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84048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977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4. Interactive Streamlit Web UI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Real-time reactive dashboard with side-by-side conflicting clause view, formatted financial counterexample metrics, and automated legal redlines.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FINAL YEAR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Final Defense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🎯 Summary for Viva Defense: What We Achieved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✔ First-of-its-kind Neuro-Symbolic Invariant Verifier for commercial financial contracts.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✔ Solves the LLM Hallucination Bottleneck by delegating mathematical boundary proof to Microsoft Z3.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✔ Guarantees 100% Soundness: Discovered real-world quantitative and temporal contract drafting loopholes in sub-50ms.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✔ Complete End-to-End Delivery: PDF document parser -&gt; Neural compiler -&gt; SMT solver -&gt; Automated legal redlining engine.</a:t>
            </a:r>
          </a:p>
          <a:p>
            <a:pPr>
              <a:spcBef>
                <a:spcPts val="1200"/>
              </a:spcBef>
              <a:defRPr sz="1400">
                <a:solidFill>
                  <a:srgbClr val="F8FAFC"/>
                </a:solidFill>
              </a:defRPr>
            </a:pPr>
            <a:r>
              <a:t>✔ Zero-Cost Architecture: 100% CPU executable on ordinary consumer laptops, with an Offline Fallback Mode for 100% reliable live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